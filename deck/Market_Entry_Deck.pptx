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olomon Sans Heavy" charset="1" panose="02000000000000000000"/>
      <p:regular r:id="rId18"/>
    </p:embeddedFont>
    <p:embeddedFont>
      <p:font typeface="Solomon Sans Bold" charset="1" panose="02000000000000000000"/>
      <p:regular r:id="rId19"/>
    </p:embeddedFont>
    <p:embeddedFont>
      <p:font typeface="Solomon Sans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86450" y="2328362"/>
            <a:ext cx="13515101" cy="342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3"/>
              </a:lnSpc>
            </a:pPr>
            <a:r>
              <a:rPr lang="en-US" b="true" sz="7823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C&amp;I ROOFTOP SOL</a:t>
            </a:r>
            <a:r>
              <a:rPr lang="en-US" b="true" sz="7823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AR ENTRY STRATEGY FOR UAE FREE ZONES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03060" y="5751530"/>
            <a:ext cx="10081881" cy="105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3"/>
              </a:lnSpc>
            </a:pPr>
            <a:r>
              <a:rPr lang="en-US" sz="2902" b="true">
                <a:solidFill>
                  <a:srgbClr val="1B395D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Feasibility and strategic analysis for a mid-sized EPC firm</a:t>
            </a:r>
          </a:p>
          <a:p>
            <a:pPr algn="ctr">
              <a:lnSpc>
                <a:spcPts val="406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320855" y="7474011"/>
            <a:ext cx="3646289" cy="1784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3"/>
              </a:lnSpc>
            </a:pPr>
          </a:p>
          <a:p>
            <a:pPr algn="ctr">
              <a:lnSpc>
                <a:spcPts val="3503"/>
              </a:lnSpc>
            </a:pPr>
          </a:p>
          <a:p>
            <a:pPr algn="ctr">
              <a:lnSpc>
                <a:spcPts val="3503"/>
              </a:lnSpc>
              <a:spcBef>
                <a:spcPct val="0"/>
              </a:spcBef>
            </a:pPr>
            <a:r>
              <a:rPr lang="en-US" sz="2502">
                <a:solidFill>
                  <a:srgbClr val="1B395D"/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Balamurugan</a:t>
            </a:r>
          </a:p>
          <a:p>
            <a:pPr algn="ctr">
              <a:lnSpc>
                <a:spcPts val="35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8174" y="2503720"/>
            <a:ext cx="15456138" cy="532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697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Situ</a:t>
            </a:r>
            <a:r>
              <a:rPr lang="en-US" b="true" sz="2899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ation:</a:t>
            </a:r>
            <a:r>
              <a:rPr lang="en-US" sz="28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The UAE has ambitious net-zero goals (2050). Dubai's major free zones (JAFZA, Dubai South, DIC) contain thousands of large, flat-roofed warehouses and factories with high daytime energy consumption.</a:t>
            </a:r>
          </a:p>
          <a:p>
            <a:pPr algn="l">
              <a:lnSpc>
                <a:spcPts val="4697"/>
              </a:lnSpc>
            </a:pPr>
          </a:p>
          <a:p>
            <a:pPr algn="l" marL="626104" indent="-313052" lvl="1">
              <a:lnSpc>
                <a:spcPts val="4697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Complication:</a:t>
            </a:r>
            <a:r>
              <a:rPr lang="en-US" sz="2899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A mid-sized Solar EPC sees potential but lacks clarity on market attractiveness, competition, and the optimal entry model to win in this space.</a:t>
            </a:r>
          </a:p>
          <a:p>
            <a:pPr algn="l">
              <a:lnSpc>
                <a:spcPts val="4697"/>
              </a:lnSpc>
            </a:pPr>
          </a:p>
          <a:p>
            <a:pPr algn="l" marL="626104" indent="-313052" lvl="1">
              <a:lnSpc>
                <a:spcPts val="4697"/>
              </a:lnSpc>
              <a:buAutoNum type="arabicPeriod" startAt="1"/>
            </a:pPr>
            <a:r>
              <a:rPr lang="en-US" b="true" sz="2899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Key Question: Should we enter the Dubai C&amp;I rooftop solar market, and if yes, how?</a:t>
            </a:r>
          </a:p>
          <a:p>
            <a:pPr algn="l">
              <a:lnSpc>
                <a:spcPts val="469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28174" y="1292651"/>
            <a:ext cx="15633467" cy="934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WHY THIS MARKET NEEDS A CLOSER LOOK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32380"/>
            <a:ext cx="18834274" cy="673670"/>
            <a:chOff x="0" y="0"/>
            <a:chExt cx="4960467" cy="177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7427"/>
            </a:xfrm>
            <a:custGeom>
              <a:avLst/>
              <a:gdLst/>
              <a:ahLst/>
              <a:cxnLst/>
              <a:rect r="r" b="b" t="t" l="l"/>
              <a:pathLst>
                <a:path h="177427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7427"/>
                  </a:lnTo>
                  <a:lnTo>
                    <a:pt x="0" y="177427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41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7813" y="1646109"/>
            <a:ext cx="15012373" cy="7881496"/>
          </a:xfrm>
          <a:custGeom>
            <a:avLst/>
            <a:gdLst/>
            <a:ahLst/>
            <a:cxnLst/>
            <a:rect r="r" b="b" t="t" l="l"/>
            <a:pathLst>
              <a:path h="7881496" w="15012373">
                <a:moveTo>
                  <a:pt x="0" y="0"/>
                </a:moveTo>
                <a:lnTo>
                  <a:pt x="15012374" y="0"/>
                </a:lnTo>
                <a:lnTo>
                  <a:pt x="15012374" y="7881496"/>
                </a:lnTo>
                <a:lnTo>
                  <a:pt x="0" y="7881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74" y="952500"/>
            <a:ext cx="12673471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OUR STRUCTURED APPROACH</a:t>
            </a:r>
          </a:p>
          <a:p>
            <a:pPr algn="l">
              <a:lnSpc>
                <a:spcPts val="6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87677" y="9725025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</a:t>
            </a: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Shivkanya 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8174" y="3766010"/>
            <a:ext cx="3622597" cy="4611466"/>
            <a:chOff x="0" y="0"/>
            <a:chExt cx="954100" cy="12145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4100" cy="1214543"/>
            </a:xfrm>
            <a:custGeom>
              <a:avLst/>
              <a:gdLst/>
              <a:ahLst/>
              <a:cxnLst/>
              <a:rect r="r" b="b" t="t" l="l"/>
              <a:pathLst>
                <a:path h="1214543" w="954100">
                  <a:moveTo>
                    <a:pt x="0" y="0"/>
                  </a:moveTo>
                  <a:lnTo>
                    <a:pt x="954100" y="0"/>
                  </a:lnTo>
                  <a:lnTo>
                    <a:pt x="954100" y="1214543"/>
                  </a:lnTo>
                  <a:lnTo>
                    <a:pt x="0" y="1214543"/>
                  </a:lnTo>
                  <a:close/>
                </a:path>
              </a:pathLst>
            </a:custGeom>
            <a:solidFill>
              <a:srgbClr val="47607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954100" cy="1290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76341" y="4162023"/>
            <a:ext cx="906325" cy="906325"/>
          </a:xfrm>
          <a:custGeom>
            <a:avLst/>
            <a:gdLst/>
            <a:ahLst/>
            <a:cxnLst/>
            <a:rect r="r" b="b" t="t" l="l"/>
            <a:pathLst>
              <a:path h="906325" w="906325">
                <a:moveTo>
                  <a:pt x="0" y="0"/>
                </a:moveTo>
                <a:lnTo>
                  <a:pt x="906326" y="0"/>
                </a:lnTo>
                <a:lnTo>
                  <a:pt x="906326" y="906325"/>
                </a:lnTo>
                <a:lnTo>
                  <a:pt x="0" y="90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280606" y="3766010"/>
            <a:ext cx="3622597" cy="4611466"/>
            <a:chOff x="0" y="0"/>
            <a:chExt cx="954100" cy="12145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4100" cy="1214543"/>
            </a:xfrm>
            <a:custGeom>
              <a:avLst/>
              <a:gdLst/>
              <a:ahLst/>
              <a:cxnLst/>
              <a:rect r="r" b="b" t="t" l="l"/>
              <a:pathLst>
                <a:path h="1214543" w="954100">
                  <a:moveTo>
                    <a:pt x="0" y="0"/>
                  </a:moveTo>
                  <a:lnTo>
                    <a:pt x="954100" y="0"/>
                  </a:lnTo>
                  <a:lnTo>
                    <a:pt x="954100" y="1214543"/>
                  </a:lnTo>
                  <a:lnTo>
                    <a:pt x="0" y="1214543"/>
                  </a:lnTo>
                  <a:close/>
                </a:path>
              </a:pathLst>
            </a:custGeom>
            <a:solidFill>
              <a:srgbClr val="4760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954100" cy="1290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501622" y="5205076"/>
            <a:ext cx="3180565" cy="220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</a:pPr>
            <a:r>
              <a:rPr lang="en-US" sz="2602" b="true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 </a:t>
            </a:r>
            <a:r>
              <a:rPr lang="en-US" sz="2602" b="true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Economic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 F</a:t>
            </a:r>
            <a:r>
              <a:rPr lang="en-US" sz="26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avorable Math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b="true" sz="2302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 </a:t>
            </a:r>
            <a:r>
              <a:rPr lang="en-US" sz="23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High irradianc</a:t>
            </a:r>
            <a:r>
              <a:rPr lang="en-US" sz="23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e + high tariffs = strong IRR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36578" y="3766010"/>
            <a:ext cx="3622597" cy="4611466"/>
            <a:chOff x="0" y="0"/>
            <a:chExt cx="954100" cy="12145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4100" cy="1214543"/>
            </a:xfrm>
            <a:custGeom>
              <a:avLst/>
              <a:gdLst/>
              <a:ahLst/>
              <a:cxnLst/>
              <a:rect r="r" b="b" t="t" l="l"/>
              <a:pathLst>
                <a:path h="1214543" w="954100">
                  <a:moveTo>
                    <a:pt x="0" y="0"/>
                  </a:moveTo>
                  <a:lnTo>
                    <a:pt x="954100" y="0"/>
                  </a:lnTo>
                  <a:lnTo>
                    <a:pt x="954100" y="1214543"/>
                  </a:lnTo>
                  <a:lnTo>
                    <a:pt x="0" y="1214543"/>
                  </a:lnTo>
                  <a:close/>
                </a:path>
              </a:pathLst>
            </a:custGeom>
            <a:solidFill>
              <a:srgbClr val="4760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954100" cy="1290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92550" y="3766010"/>
            <a:ext cx="3622597" cy="4611466"/>
            <a:chOff x="0" y="0"/>
            <a:chExt cx="4830129" cy="614862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830129" cy="6148621"/>
              <a:chOff x="0" y="0"/>
              <a:chExt cx="954100" cy="121454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4100" cy="1214543"/>
              </a:xfrm>
              <a:custGeom>
                <a:avLst/>
                <a:gdLst/>
                <a:ahLst/>
                <a:cxnLst/>
                <a:rect r="r" b="b" t="t" l="l"/>
                <a:pathLst>
                  <a:path h="1214543" w="954100">
                    <a:moveTo>
                      <a:pt x="0" y="0"/>
                    </a:moveTo>
                    <a:lnTo>
                      <a:pt x="954100" y="0"/>
                    </a:lnTo>
                    <a:lnTo>
                      <a:pt x="954100" y="1214543"/>
                    </a:lnTo>
                    <a:lnTo>
                      <a:pt x="0" y="1214543"/>
                    </a:lnTo>
                    <a:close/>
                  </a:path>
                </a:pathLst>
              </a:custGeom>
              <a:solidFill>
                <a:srgbClr val="47607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76200"/>
                <a:ext cx="954100" cy="12907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83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81396" y="1950505"/>
              <a:ext cx="4240754" cy="344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3"/>
                </a:lnSpc>
                <a:spcBef>
                  <a:spcPct val="0"/>
                </a:spcBef>
              </a:pPr>
              <a:r>
                <a:rPr lang="en-US" b="true" sz="2602">
                  <a:solidFill>
                    <a:srgbClr val="FFFFFF"/>
                  </a:solidFill>
                  <a:latin typeface="Solomon Sans Bold"/>
                  <a:ea typeface="Solomon Sans Bold"/>
                  <a:cs typeface="Solomon Sans Bold"/>
                  <a:sym typeface="Solomon Sans Bold"/>
                </a:rPr>
                <a:t>Strat</a:t>
              </a:r>
              <a:r>
                <a:rPr lang="en-US" b="true" sz="2602">
                  <a:solidFill>
                    <a:srgbClr val="FFFFFF"/>
                  </a:solidFill>
                  <a:latin typeface="Solomon Sans Bold"/>
                  <a:ea typeface="Solomon Sans Bold"/>
                  <a:cs typeface="Solomon Sans Bold"/>
                  <a:sym typeface="Solomon Sans Bold"/>
                </a:rPr>
                <a:t>egic</a:t>
              </a:r>
            </a:p>
            <a:p>
              <a:pPr algn="ctr">
                <a:lnSpc>
                  <a:spcPts val="3643"/>
                </a:lnSpc>
                <a:spcBef>
                  <a:spcPct val="0"/>
                </a:spcBef>
              </a:pPr>
              <a:r>
                <a:rPr lang="en-US" sz="2602">
                  <a:solidFill>
                    <a:srgbClr val="FFFFFF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ESG Imperative</a:t>
              </a:r>
            </a:p>
            <a:p>
              <a:pPr algn="ctr">
                <a:lnSpc>
                  <a:spcPts val="3643"/>
                </a:lnSpc>
                <a:spcBef>
                  <a:spcPct val="0"/>
                </a:spcBef>
              </a:pPr>
            </a:p>
            <a:p>
              <a:pPr algn="ctr">
                <a:lnSpc>
                  <a:spcPts val="3223"/>
                </a:lnSpc>
                <a:spcBef>
                  <a:spcPct val="0"/>
                </a:spcBef>
              </a:pPr>
              <a:r>
                <a:rPr lang="en-US" sz="2302">
                  <a:solidFill>
                    <a:srgbClr val="FFFFFF"/>
                  </a:solidFill>
                  <a:latin typeface="Solomon Sans"/>
                  <a:ea typeface="Solomon Sans"/>
                  <a:cs typeface="Solomon Sans"/>
                  <a:sym typeface="Solomon Sans"/>
                </a:rPr>
                <a:t>Tenant decarbonization goals drive demand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638742" y="4162023"/>
            <a:ext cx="906325" cy="906325"/>
          </a:xfrm>
          <a:custGeom>
            <a:avLst/>
            <a:gdLst/>
            <a:ahLst/>
            <a:cxnLst/>
            <a:rect r="r" b="b" t="t" l="l"/>
            <a:pathLst>
              <a:path h="906325" w="906325">
                <a:moveTo>
                  <a:pt x="0" y="0"/>
                </a:moveTo>
                <a:lnTo>
                  <a:pt x="906325" y="0"/>
                </a:lnTo>
                <a:lnTo>
                  <a:pt x="906325" y="906325"/>
                </a:lnTo>
                <a:lnTo>
                  <a:pt x="0" y="90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84745" y="4237175"/>
            <a:ext cx="906325" cy="906325"/>
          </a:xfrm>
          <a:custGeom>
            <a:avLst/>
            <a:gdLst/>
            <a:ahLst/>
            <a:cxnLst/>
            <a:rect r="r" b="b" t="t" l="l"/>
            <a:pathLst>
              <a:path h="906325" w="906325">
                <a:moveTo>
                  <a:pt x="0" y="0"/>
                </a:moveTo>
                <a:lnTo>
                  <a:pt x="906325" y="0"/>
                </a:lnTo>
                <a:lnTo>
                  <a:pt x="906325" y="906325"/>
                </a:lnTo>
                <a:lnTo>
                  <a:pt x="0" y="90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88262" y="4237175"/>
            <a:ext cx="831173" cy="831173"/>
          </a:xfrm>
          <a:custGeom>
            <a:avLst/>
            <a:gdLst/>
            <a:ahLst/>
            <a:cxnLst/>
            <a:rect r="r" b="b" t="t" l="l"/>
            <a:pathLst>
              <a:path h="831173" w="831173">
                <a:moveTo>
                  <a:pt x="0" y="0"/>
                </a:moveTo>
                <a:lnTo>
                  <a:pt x="831173" y="0"/>
                </a:lnTo>
                <a:lnTo>
                  <a:pt x="831173" y="831173"/>
                </a:lnTo>
                <a:lnTo>
                  <a:pt x="0" y="831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447625" y="5205076"/>
            <a:ext cx="3180565" cy="214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Op</a:t>
            </a:r>
            <a:r>
              <a:rPr lang="en-US" b="true" sz="2602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erational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Perfect Load Match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C&amp;I daytime ops align with solar generation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9221" y="5205076"/>
            <a:ext cx="3180565" cy="220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b="true" sz="2602">
                <a:solidFill>
                  <a:srgbClr val="FFFFFF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Regulatory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  <a:r>
              <a:rPr lang="en-US" sz="26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Strong Tailwind</a:t>
            </a:r>
          </a:p>
          <a:p>
            <a:pPr algn="ctr">
              <a:lnSpc>
                <a:spcPts val="3643"/>
              </a:lnSpc>
              <a:spcBef>
                <a:spcPct val="0"/>
              </a:spcBef>
            </a:pP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UAE Net Zero 2050, </a:t>
            </a:r>
          </a:p>
          <a:p>
            <a:pPr algn="ctr">
              <a:lnSpc>
                <a:spcPts val="3223"/>
              </a:lnSpc>
              <a:spcBef>
                <a:spcPct val="0"/>
              </a:spcBef>
            </a:pPr>
            <a:r>
              <a:rPr lang="en-US" sz="2302">
                <a:solidFill>
                  <a:srgbClr val="FFFFFF"/>
                </a:solidFill>
                <a:latin typeface="Solomon Sans"/>
                <a:ea typeface="Solomon Sans"/>
                <a:cs typeface="Solomon Sans"/>
                <a:sym typeface="Solomon Sans"/>
              </a:rPr>
              <a:t>Shams Dubai program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8174" y="1292651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FOUR POWERFUL DRIVERS CREATE A COMPELLING MARKET FOUNDATION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8174" y="3056057"/>
            <a:ext cx="10667031" cy="6069280"/>
          </a:xfrm>
          <a:custGeom>
            <a:avLst/>
            <a:gdLst/>
            <a:ahLst/>
            <a:cxnLst/>
            <a:rect r="r" b="b" t="t" l="l"/>
            <a:pathLst>
              <a:path h="6069280" w="10667031">
                <a:moveTo>
                  <a:pt x="0" y="0"/>
                </a:moveTo>
                <a:lnTo>
                  <a:pt x="10667031" y="0"/>
                </a:lnTo>
                <a:lnTo>
                  <a:pt x="10667031" y="6069280"/>
                </a:lnTo>
                <a:lnTo>
                  <a:pt x="0" y="606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41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74" y="1292651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WORLD-CLASS SOLAR RESOURCE ENSURES HIGH AND PREDICTABLE OUTPUT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5205" y="4614452"/>
            <a:ext cx="5330770" cy="2120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b="true" sz="24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Key Takeaway</a:t>
            </a:r>
            <a:r>
              <a:rPr lang="en-US" b="true" sz="24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:</a:t>
            </a:r>
            <a:r>
              <a:rPr lang="en-US" sz="24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Dubai's ~1,900 kWh/kW/year is among the highest globally, ensuring robust system performance and predictable economics.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8174" y="3225720"/>
            <a:ext cx="10876855" cy="6003881"/>
          </a:xfrm>
          <a:custGeom>
            <a:avLst/>
            <a:gdLst/>
            <a:ahLst/>
            <a:cxnLst/>
            <a:rect r="r" b="b" t="t" l="l"/>
            <a:pathLst>
              <a:path h="6003881" w="10876855">
                <a:moveTo>
                  <a:pt x="0" y="0"/>
                </a:moveTo>
                <a:lnTo>
                  <a:pt x="10876855" y="0"/>
                </a:lnTo>
                <a:lnTo>
                  <a:pt x="10876855" y="6003881"/>
                </a:lnTo>
                <a:lnTo>
                  <a:pt x="0" y="6003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48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74" y="1292651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FOR FREE ZONE BUSINESSES, SOLAR IS A HIGH-ROI OPERATIONAL INVESTMENT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95205" y="4604927"/>
            <a:ext cx="5330770" cy="353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Typical pay</a:t>
            </a:r>
            <a:r>
              <a:rPr lang="en-US" b="true" sz="25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back: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4–6 years</a:t>
            </a:r>
          </a:p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Attractive long-term savings potential</a:t>
            </a:r>
          </a:p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Strong alignment with daytime operations</a:t>
            </a:r>
          </a:p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High predictability due to Dubai irradiance</a:t>
            </a:r>
          </a:p>
          <a:p>
            <a:pPr algn="l">
              <a:lnSpc>
                <a:spcPts val="350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8174" y="1206926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THE MID-MARKET SEGMENT (50–500 KW) IS UNDERSERVED BY QUALITY PROVIDERS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8741" y="8804971"/>
            <a:ext cx="13290519" cy="46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3"/>
              </a:lnSpc>
              <a:spcBef>
                <a:spcPct val="0"/>
              </a:spcBef>
            </a:pP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An opportunity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exists for a reliable, quality-focused player in the mid-market.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52064" y="1406424"/>
            <a:ext cx="19109798" cy="90370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28174" y="3273630"/>
            <a:ext cx="10527196" cy="5000190"/>
          </a:xfrm>
          <a:custGeom>
            <a:avLst/>
            <a:gdLst/>
            <a:ahLst/>
            <a:cxnLst/>
            <a:rect r="r" b="b" t="t" l="l"/>
            <a:pathLst>
              <a:path h="5000190" w="10527196">
                <a:moveTo>
                  <a:pt x="0" y="0"/>
                </a:moveTo>
                <a:lnTo>
                  <a:pt x="10527197" y="0"/>
                </a:lnTo>
                <a:lnTo>
                  <a:pt x="10527197" y="5000190"/>
                </a:lnTo>
                <a:lnTo>
                  <a:pt x="0" y="5000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19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74" y="1206926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JAFZA EMERGES AS THE CLEAR PRIORITY FOR INITIAL FOCUS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9045" y="3826717"/>
            <a:ext cx="5040255" cy="397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JAFZA: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Highest overall potential. Recommended to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launch here.</a:t>
            </a:r>
          </a:p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Dubai South: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Strong future candidate. Modern infrastructure.</a:t>
            </a:r>
          </a:p>
          <a:p>
            <a:pPr algn="l" marL="540264" indent="-270132" lvl="1">
              <a:lnSpc>
                <a:spcPts val="350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DIC:</a:t>
            </a:r>
            <a:r>
              <a:rPr lang="en-US" sz="25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Viable but requires more selective site assessment.</a:t>
            </a:r>
          </a:p>
          <a:p>
            <a:pPr algn="l">
              <a:lnSpc>
                <a:spcPts val="350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8174" y="1206926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"QUALITY-FOCUSED, JAFZA-FIRST, CAPEX-LED" ENTRY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8174" y="3645742"/>
            <a:ext cx="15931126" cy="28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6"/>
              </a:lnSpc>
            </a:pPr>
            <a:r>
              <a:rPr lang="en-US" sz="2802" b="true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1. T</a:t>
            </a:r>
            <a:r>
              <a:rPr lang="en-US" sz="2802" b="true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ARGET: </a:t>
            </a:r>
            <a:r>
              <a:rPr lang="en-US" sz="28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Owner-occupied &amp; long-lease warehouses</a:t>
            </a:r>
            <a:r>
              <a:rPr lang="en-US" sz="28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in JAFZA.</a:t>
            </a:r>
          </a:p>
          <a:p>
            <a:pPr algn="l">
              <a:lnSpc>
                <a:spcPts val="5716"/>
              </a:lnSpc>
            </a:pPr>
            <a:r>
              <a:rPr lang="en-US" b="true" sz="28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2.</a:t>
            </a:r>
            <a:r>
              <a:rPr lang="en-US" sz="28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</a:t>
            </a:r>
            <a:r>
              <a:rPr lang="en-US" b="true" sz="28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MODEL: </a:t>
            </a:r>
            <a:r>
              <a:rPr lang="en-US" sz="28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CAPEX sales facilitated by partner financing. Offer "Feasibility Audit" as lead gen.</a:t>
            </a:r>
          </a:p>
          <a:p>
            <a:pPr algn="l">
              <a:lnSpc>
                <a:spcPts val="5716"/>
              </a:lnSpc>
            </a:pPr>
            <a:r>
              <a:rPr lang="en-US" b="true" sz="28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3. </a:t>
            </a:r>
            <a:r>
              <a:rPr lang="en-US" b="true" sz="2802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PROPOSITION: </a:t>
            </a:r>
            <a:r>
              <a:rPr lang="en-US" sz="2802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Compete on reliability &amp; lifecycle value: Tier-1 equipment, O&amp;M guarantee, approval navigation.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5299" y="3145342"/>
            <a:ext cx="11148664" cy="5851423"/>
          </a:xfrm>
          <a:custGeom>
            <a:avLst/>
            <a:gdLst/>
            <a:ahLst/>
            <a:cxnLst/>
            <a:rect r="r" b="b" t="t" l="l"/>
            <a:pathLst>
              <a:path h="5851423" w="11148664">
                <a:moveTo>
                  <a:pt x="0" y="0"/>
                </a:moveTo>
                <a:lnTo>
                  <a:pt x="11148664" y="0"/>
                </a:lnTo>
                <a:lnTo>
                  <a:pt x="11148664" y="5851422"/>
                </a:lnTo>
                <a:lnTo>
                  <a:pt x="0" y="5851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01" r="-136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8174" y="1206926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A PHASED 12-MONTH PLAN TO BUILD MOMENTUM AND SCALE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8158" y="4418912"/>
            <a:ext cx="5485262" cy="2199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860" indent="-232430" lvl="1">
              <a:lnSpc>
                <a:spcPts val="4392"/>
              </a:lnSpc>
              <a:buFont typeface="Arial"/>
              <a:buChar char="•"/>
            </a:pPr>
            <a:r>
              <a:rPr lang="en-US" b="true" sz="2153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Month 3</a:t>
            </a:r>
            <a:r>
              <a:rPr lang="en-US" b="true" sz="2153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: </a:t>
            </a:r>
            <a:r>
              <a:rPr lang="en-US" sz="2153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Secure first pilot project</a:t>
            </a:r>
            <a:r>
              <a:rPr lang="en-US" sz="2153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.</a:t>
            </a:r>
          </a:p>
          <a:p>
            <a:pPr algn="l" marL="464860" indent="-232430" lvl="1">
              <a:lnSpc>
                <a:spcPts val="4392"/>
              </a:lnSpc>
              <a:buFont typeface="Arial"/>
              <a:buChar char="•"/>
            </a:pPr>
            <a:r>
              <a:rPr lang="en-US" b="true" sz="2153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Month 6</a:t>
            </a:r>
            <a:r>
              <a:rPr lang="en-US" b="true" sz="2153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: </a:t>
            </a:r>
            <a:r>
              <a:rPr lang="en-US" sz="2153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Formalize bank partnership.</a:t>
            </a:r>
          </a:p>
          <a:p>
            <a:pPr algn="l" marL="464860" indent="-232430" lvl="1">
              <a:lnSpc>
                <a:spcPts val="4392"/>
              </a:lnSpc>
              <a:buFont typeface="Arial"/>
              <a:buChar char="•"/>
            </a:pPr>
            <a:r>
              <a:rPr lang="en-US" b="true" sz="2153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Month 12:</a:t>
            </a:r>
            <a:r>
              <a:rPr lang="en-US" sz="2153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Achieve 5–8 MW contracted pipeline.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328174" y="3561291"/>
          <a:ext cx="15633467" cy="4581525"/>
        </p:xfrm>
        <a:graphic>
          <a:graphicData uri="http://schemas.openxmlformats.org/drawingml/2006/table">
            <a:tbl>
              <a:tblPr/>
              <a:tblGrid>
                <a:gridCol w="4336882"/>
                <a:gridCol w="3115480"/>
                <a:gridCol w="8181105"/>
              </a:tblGrid>
              <a:tr h="9202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Solomon Sans Bold"/>
                          <a:ea typeface="Solomon Sans Bold"/>
                          <a:cs typeface="Solomon Sans Bold"/>
                          <a:sym typeface="Solomon Sans Bold"/>
                        </a:rPr>
                        <a:t>Risk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95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Solomon Sans Bold"/>
                          <a:ea typeface="Solomon Sans Bold"/>
                          <a:cs typeface="Solomon Sans Bold"/>
                          <a:sym typeface="Solomon Sans Bold"/>
                        </a:rPr>
                        <a:t>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95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Solomon Sans Bold"/>
                          <a:ea typeface="Solomon Sans Bold"/>
                          <a:cs typeface="Solomon Sans Bold"/>
                          <a:sym typeface="Solomon Sans Bold"/>
                        </a:rPr>
                        <a:t>Mitigation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95D"/>
                    </a:solidFill>
                  </a:tcPr>
                </a:tc>
              </a:tr>
              <a:tr h="12311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Rooftop Structural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Mandatory, billable structural audit pre-contract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</a:tr>
              <a:tr h="12228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Customer CAPEX Hesitation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Pre-arranged financing options via bank partner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</a:tr>
              <a:tr h="12072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Approval Delays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Solomon Sans"/>
                          <a:ea typeface="Solomon Sans"/>
                          <a:cs typeface="Solomon Sans"/>
                          <a:sym typeface="Solomon Sans"/>
                        </a:rPr>
                        <a:t>Dedicated approvals specialist with DEWA/zone relationships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607D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328174" y="1206926"/>
            <a:ext cx="15633467" cy="176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IDENTIFIED RISKS ARE MANAGEABLE WITH PROACTIVE PLANNING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DF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24130"/>
            <a:ext cx="18834274" cy="681920"/>
            <a:chOff x="0" y="0"/>
            <a:chExt cx="4960467" cy="17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0467" cy="179600"/>
            </a:xfrm>
            <a:custGeom>
              <a:avLst/>
              <a:gdLst/>
              <a:ahLst/>
              <a:cxnLst/>
              <a:rect r="r" b="b" t="t" l="l"/>
              <a:pathLst>
                <a:path h="179600" w="4960467">
                  <a:moveTo>
                    <a:pt x="0" y="0"/>
                  </a:moveTo>
                  <a:lnTo>
                    <a:pt x="4960467" y="0"/>
                  </a:lnTo>
                  <a:lnTo>
                    <a:pt x="4960467" y="179600"/>
                  </a:lnTo>
                  <a:lnTo>
                    <a:pt x="0" y="179600"/>
                  </a:lnTo>
                  <a:close/>
                </a:path>
              </a:pathLst>
            </a:custGeom>
            <a:solidFill>
              <a:srgbClr val="1B3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960467" cy="24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8174" y="1206926"/>
            <a:ext cx="15633467" cy="259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RECOMMENDATION: </a:t>
            </a:r>
          </a:p>
          <a:p>
            <a:pPr algn="l">
              <a:lnSpc>
                <a:spcPts val="6599"/>
              </a:lnSpc>
            </a:pPr>
            <a:r>
              <a:rPr lang="en-US" sz="5945" b="true">
                <a:solidFill>
                  <a:srgbClr val="1B395D"/>
                </a:solidFill>
                <a:latin typeface="Solomon Sans Heavy"/>
                <a:ea typeface="Solomon Sans Heavy"/>
                <a:cs typeface="Solomon Sans Heavy"/>
                <a:sym typeface="Solomon Sans Heavy"/>
              </a:rPr>
              <a:t>ENTER THE MARKET WITH A FOCUSED, DISCIPLINED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01645" y="9733630"/>
            <a:ext cx="6648660" cy="41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 Shivkanya 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2613204" y="9733630"/>
            <a:ext cx="6648660" cy="8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3"/>
              </a:lnSpc>
            </a:pPr>
            <a:r>
              <a:rPr lang="en-US" sz="2202">
                <a:solidFill>
                  <a:srgbClr val="DEDEE0">
                    <a:alpha val="34902"/>
                  </a:srgbClr>
                </a:solidFill>
                <a:latin typeface="Solomon Sans"/>
                <a:ea typeface="Solomon Sans"/>
                <a:cs typeface="Solomon Sans"/>
                <a:sym typeface="Solomon Sans"/>
              </a:rPr>
              <a:t>Graph created using PowerBI</a:t>
            </a:r>
          </a:p>
          <a:p>
            <a:pPr algn="r">
              <a:lnSpc>
                <a:spcPts val="308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05112"/>
            <a:ext cx="16230600" cy="540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2"/>
              </a:lnSpc>
            </a:pPr>
          </a:p>
          <a:p>
            <a:pPr algn="l" marL="661660" indent="-330830" lvl="1">
              <a:lnSpc>
                <a:spcPts val="5332"/>
              </a:lnSpc>
              <a:buAutoNum type="arabicPeriod" startAt="1"/>
            </a:pPr>
            <a:r>
              <a:rPr lang="en-US" b="true" sz="3064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ENTER </a:t>
            </a:r>
            <a:r>
              <a:rPr lang="en-US" sz="3064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the Dubai C&amp;I rooftop solar market.</a:t>
            </a:r>
          </a:p>
          <a:p>
            <a:pPr algn="l" marL="661660" indent="-330830" lvl="1">
              <a:lnSpc>
                <a:spcPts val="5332"/>
              </a:lnSpc>
              <a:buAutoNum type="arabicPeriod" startAt="1"/>
            </a:pPr>
            <a:r>
              <a:rPr lang="en-US" b="true" sz="3064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FOCUS</a:t>
            </a:r>
            <a:r>
              <a:rPr lang="en-US" sz="3064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 on the quality mid-market gap in JAFZA.</a:t>
            </a:r>
          </a:p>
          <a:p>
            <a:pPr algn="l" marL="661660" indent="-330830" lvl="1">
              <a:lnSpc>
                <a:spcPts val="5332"/>
              </a:lnSpc>
              <a:buAutoNum type="arabicPeriod" startAt="1"/>
            </a:pPr>
            <a:r>
              <a:rPr lang="en-US" b="true" sz="3064">
                <a:solidFill>
                  <a:srgbClr val="000000"/>
                </a:solidFill>
                <a:latin typeface="Solomon Sans Bold"/>
                <a:ea typeface="Solomon Sans Bold"/>
                <a:cs typeface="Solomon Sans Bold"/>
                <a:sym typeface="Solomon Sans Bold"/>
              </a:rPr>
              <a:t>EXECUTE </a:t>
            </a:r>
            <a:r>
              <a:rPr lang="en-US" sz="3064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via a CAPEX-led model, underpinned by financing and quality guarantees.</a:t>
            </a:r>
          </a:p>
          <a:p>
            <a:pPr algn="l">
              <a:lnSpc>
                <a:spcPts val="5332"/>
              </a:lnSpc>
            </a:pPr>
          </a:p>
          <a:p>
            <a:pPr algn="l">
              <a:lnSpc>
                <a:spcPts val="5332"/>
              </a:lnSpc>
            </a:pPr>
            <a:r>
              <a:rPr lang="en-US" sz="3064">
                <a:solidFill>
                  <a:srgbClr val="000000"/>
                </a:solidFill>
                <a:latin typeface="Solomon Sans"/>
                <a:ea typeface="Solomon Sans"/>
                <a:cs typeface="Solomon Sans"/>
                <a:sym typeface="Solomon Sans"/>
              </a:rPr>
              <a:t>This approach captures a serviceable market opportunity with a compelling customer value proposition and manageable risk.</a:t>
            </a:r>
          </a:p>
          <a:p>
            <a:pPr algn="ctr">
              <a:lnSpc>
                <a:spcPts val="533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DAHAirRUve0</dc:identifier>
  <dcterms:modified xsi:type="dcterms:W3CDTF">2011-08-01T06:04:30Z</dcterms:modified>
  <cp:revision>1</cp:revision>
  <dc:title>Copy of Blue and White Modern School Presentation</dc:title>
</cp:coreProperties>
</file>